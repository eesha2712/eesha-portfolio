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4" r:id="rId1"/>
  </p:sldMasterIdLst>
  <p:notesMasterIdLst>
    <p:notesMasterId r:id="rId17"/>
  </p:notesMasterIdLst>
  <p:sldIdLst>
    <p:sldId id="256" r:id="rId2"/>
    <p:sldId id="257" r:id="rId3"/>
    <p:sldId id="262" r:id="rId4"/>
    <p:sldId id="336" r:id="rId5"/>
    <p:sldId id="264" r:id="rId6"/>
    <p:sldId id="283" r:id="rId7"/>
    <p:sldId id="337" r:id="rId8"/>
    <p:sldId id="339" r:id="rId9"/>
    <p:sldId id="341" r:id="rId10"/>
    <p:sldId id="342" r:id="rId11"/>
    <p:sldId id="338" r:id="rId12"/>
    <p:sldId id="260" r:id="rId13"/>
    <p:sldId id="340" r:id="rId14"/>
    <p:sldId id="289" r:id="rId15"/>
    <p:sldId id="343" r:id="rId16"/>
  </p:sldIdLst>
  <p:sldSz cx="9144000" cy="5143500" type="screen16x9"/>
  <p:notesSz cx="6858000" cy="9144000"/>
  <p:embeddedFontLst>
    <p:embeddedFont>
      <p:font typeface="Aptos SemiBold" panose="020B0004020202020204" pitchFamily="34" charset="0"/>
      <p:regular r:id="rId18"/>
      <p:bold r:id="rId19"/>
      <p:italic r:id="rId20"/>
      <p:boldItalic r:id="rId21"/>
    </p:embeddedFont>
    <p:embeddedFont>
      <p:font typeface="Bebas Neue" panose="020B0606020202050201" pitchFamily="34" charset="77"/>
      <p:regular r:id="rId22"/>
    </p:embeddedFont>
    <p:embeddedFont>
      <p:font typeface="Inter" panose="02000503000000020004" pitchFamily="2" charset="0"/>
      <p:regular r:id=""/>
      <p:bold r:id=""/>
      <p:italic r:id=""/>
      <p:boldItalic r:id=""/>
    </p:embeddedFont>
    <p:embeddedFont>
      <p:font typeface="Nunito Light" panose="020F0302020204030204" pitchFamily="34" charset="0"/>
      <p:regular r:id=""/>
      <p:italic r:id=""/>
    </p:embeddedFont>
    <p:embeddedFont>
      <p:font typeface="Urbanist SemiBold" panose="020B0A04040200000203" pitchFamily="34" charset="77"/>
      <p:regular r:id=""/>
      <p:bold r:id=""/>
      <p:italic r:id=""/>
      <p:boldItalic r:id="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7E6135-7D6A-466B-84F6-E84761146C44}">
  <a:tblStyle styleId="{657E6135-7D6A-466B-84F6-E84761146C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65"/>
    <p:restoredTop sz="94698"/>
  </p:normalViewPr>
  <p:slideViewPr>
    <p:cSldViewPr snapToGrid="0">
      <p:cViewPr varScale="1">
        <p:scale>
          <a:sx n="118" d="100"/>
          <a:sy n="118" d="100"/>
        </p:scale>
        <p:origin x="208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a893a721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a893a721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>
          <a:extLst>
            <a:ext uri="{FF2B5EF4-FFF2-40B4-BE49-F238E27FC236}">
              <a16:creationId xmlns:a16="http://schemas.microsoft.com/office/drawing/2014/main" id="{A57B9107-158A-8C0E-A8B5-11AA0CFE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54dda1946d_6_322:notes">
            <a:extLst>
              <a:ext uri="{FF2B5EF4-FFF2-40B4-BE49-F238E27FC236}">
                <a16:creationId xmlns:a16="http://schemas.microsoft.com/office/drawing/2014/main" id="{F5298FD5-20F7-1546-2991-03ADBB1FCE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54dda1946d_6_322:notes">
            <a:extLst>
              <a:ext uri="{FF2B5EF4-FFF2-40B4-BE49-F238E27FC236}">
                <a16:creationId xmlns:a16="http://schemas.microsoft.com/office/drawing/2014/main" id="{3B2DDC3B-39A9-D7FC-A586-23B49959B2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2373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aa49de17df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2aa49de17df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>
          <a:extLst>
            <a:ext uri="{FF2B5EF4-FFF2-40B4-BE49-F238E27FC236}">
              <a16:creationId xmlns:a16="http://schemas.microsoft.com/office/drawing/2014/main" id="{E05FD0DB-DD59-9D66-1BF6-60B8F2D2D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54dda1946d_6_322:notes">
            <a:extLst>
              <a:ext uri="{FF2B5EF4-FFF2-40B4-BE49-F238E27FC236}">
                <a16:creationId xmlns:a16="http://schemas.microsoft.com/office/drawing/2014/main" id="{33B7B757-D8BE-8221-0C9C-29FF7AC2BD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54dda1946d_6_322:notes">
            <a:extLst>
              <a:ext uri="{FF2B5EF4-FFF2-40B4-BE49-F238E27FC236}">
                <a16:creationId xmlns:a16="http://schemas.microsoft.com/office/drawing/2014/main" id="{E2446A9D-C080-ACEE-931A-6F32043FD3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9427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>
          <a:extLst>
            <a:ext uri="{FF2B5EF4-FFF2-40B4-BE49-F238E27FC236}">
              <a16:creationId xmlns:a16="http://schemas.microsoft.com/office/drawing/2014/main" id="{0B73FCA2-472A-9E09-E7D1-16E2FB752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54dda1946d_6_322:notes">
            <a:extLst>
              <a:ext uri="{FF2B5EF4-FFF2-40B4-BE49-F238E27FC236}">
                <a16:creationId xmlns:a16="http://schemas.microsoft.com/office/drawing/2014/main" id="{446A8A4D-D355-C6CD-B47F-261C473C1D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54dda1946d_6_322:notes">
            <a:extLst>
              <a:ext uri="{FF2B5EF4-FFF2-40B4-BE49-F238E27FC236}">
                <a16:creationId xmlns:a16="http://schemas.microsoft.com/office/drawing/2014/main" id="{252DA84F-6AB8-62DC-E1E2-6AB4A5A8BD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015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>
          <a:extLst>
            <a:ext uri="{FF2B5EF4-FFF2-40B4-BE49-F238E27FC236}">
              <a16:creationId xmlns:a16="http://schemas.microsoft.com/office/drawing/2014/main" id="{A1F222A5-C7A2-C156-6A1A-1B06B81C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54dda1946d_6_322:notes">
            <a:extLst>
              <a:ext uri="{FF2B5EF4-FFF2-40B4-BE49-F238E27FC236}">
                <a16:creationId xmlns:a16="http://schemas.microsoft.com/office/drawing/2014/main" id="{CE71DF4A-F910-5A38-A1CC-7F7DB32BB2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54dda1946d_6_322:notes">
            <a:extLst>
              <a:ext uri="{FF2B5EF4-FFF2-40B4-BE49-F238E27FC236}">
                <a16:creationId xmlns:a16="http://schemas.microsoft.com/office/drawing/2014/main" id="{40AEC84F-77FC-122A-F11E-780B1B033B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9939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>
          <a:extLst>
            <a:ext uri="{FF2B5EF4-FFF2-40B4-BE49-F238E27FC236}">
              <a16:creationId xmlns:a16="http://schemas.microsoft.com/office/drawing/2014/main" id="{C3E08B15-ECB7-8C13-2E72-DE422457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54dda1946d_6_322:notes">
            <a:extLst>
              <a:ext uri="{FF2B5EF4-FFF2-40B4-BE49-F238E27FC236}">
                <a16:creationId xmlns:a16="http://schemas.microsoft.com/office/drawing/2014/main" id="{52B94F52-4C5D-6108-2902-EA3D0529C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54dda1946d_6_322:notes">
            <a:extLst>
              <a:ext uri="{FF2B5EF4-FFF2-40B4-BE49-F238E27FC236}">
                <a16:creationId xmlns:a16="http://schemas.microsoft.com/office/drawing/2014/main" id="{30486E05-D0A0-FA43-91BA-15096E2DB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9653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>
          <a:extLst>
            <a:ext uri="{FF2B5EF4-FFF2-40B4-BE49-F238E27FC236}">
              <a16:creationId xmlns:a16="http://schemas.microsoft.com/office/drawing/2014/main" id="{EFEC0C0E-7568-A7C4-B3BF-3071D64AE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54dda1946d_6_322:notes">
            <a:extLst>
              <a:ext uri="{FF2B5EF4-FFF2-40B4-BE49-F238E27FC236}">
                <a16:creationId xmlns:a16="http://schemas.microsoft.com/office/drawing/2014/main" id="{0D5CAD31-96DC-BBCB-0F92-B48F27FE9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54dda1946d_6_322:notes">
            <a:extLst>
              <a:ext uri="{FF2B5EF4-FFF2-40B4-BE49-F238E27FC236}">
                <a16:creationId xmlns:a16="http://schemas.microsoft.com/office/drawing/2014/main" id="{7982D028-2F05-8F3B-596D-89F73C53F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4794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>
          <a:extLst>
            <a:ext uri="{FF2B5EF4-FFF2-40B4-BE49-F238E27FC236}">
              <a16:creationId xmlns:a16="http://schemas.microsoft.com/office/drawing/2014/main" id="{81BBD373-0E49-383E-10D8-B639651FB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54dda1946d_6_322:notes">
            <a:extLst>
              <a:ext uri="{FF2B5EF4-FFF2-40B4-BE49-F238E27FC236}">
                <a16:creationId xmlns:a16="http://schemas.microsoft.com/office/drawing/2014/main" id="{010A8339-E4DA-F7F2-4CA0-F9D703F1B9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54dda1946d_6_322:notes">
            <a:extLst>
              <a:ext uri="{FF2B5EF4-FFF2-40B4-BE49-F238E27FC236}">
                <a16:creationId xmlns:a16="http://schemas.microsoft.com/office/drawing/2014/main" id="{394B40EA-9AE9-616A-E84F-28FE9B157A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7937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aa56db0d57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aa56db0d57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30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974925" y="780300"/>
            <a:ext cx="1019700" cy="436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68875" y="930650"/>
            <a:ext cx="4261800" cy="20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68875" y="3926600"/>
            <a:ext cx="2329500" cy="67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0" y="-33300"/>
            <a:ext cx="3472500" cy="52101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" name="Google Shape;13;p2"/>
          <p:cNvGrpSpPr/>
          <p:nvPr/>
        </p:nvGrpSpPr>
        <p:grpSpPr>
          <a:xfrm>
            <a:off x="7890975" y="196175"/>
            <a:ext cx="539700" cy="230700"/>
            <a:chOff x="5765125" y="169575"/>
            <a:chExt cx="539700" cy="230700"/>
          </a:xfrm>
        </p:grpSpPr>
        <p:sp>
          <p:nvSpPr>
            <p:cNvPr id="14" name="Google Shape;14;p2"/>
            <p:cNvSpPr/>
            <p:nvPr/>
          </p:nvSpPr>
          <p:spPr>
            <a:xfrm>
              <a:off x="5765125" y="169575"/>
              <a:ext cx="230700" cy="2307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19625" y="169575"/>
              <a:ext cx="230700" cy="2307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074125" y="169575"/>
              <a:ext cx="230700" cy="2307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021525" y="1368188"/>
            <a:ext cx="3182700" cy="14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1021525" y="740163"/>
            <a:ext cx="900900" cy="55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615525" y="3764988"/>
            <a:ext cx="25887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0" y="0"/>
            <a:ext cx="4797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" name="Google Shape;22;p3"/>
          <p:cNvSpPr>
            <a:spLocks noGrp="1"/>
          </p:cNvSpPr>
          <p:nvPr>
            <p:ph type="pic" idx="3"/>
          </p:nvPr>
        </p:nvSpPr>
        <p:spPr>
          <a:xfrm>
            <a:off x="5472475" y="-33300"/>
            <a:ext cx="3671700" cy="521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0" y="0"/>
            <a:ext cx="4797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1193625" y="1126050"/>
            <a:ext cx="5054100" cy="68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1193625" y="1813950"/>
            <a:ext cx="5054100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Urbanis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/>
          <p:nvPr/>
        </p:nvSpPr>
        <p:spPr>
          <a:xfrm>
            <a:off x="0" y="0"/>
            <a:ext cx="4797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6963375" y="4275275"/>
            <a:ext cx="1776900" cy="1776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6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-921250" y="734600"/>
            <a:ext cx="1776900" cy="1776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4" name="Google Shape;134;p20"/>
          <p:cNvGrpSpPr/>
          <p:nvPr/>
        </p:nvGrpSpPr>
        <p:grpSpPr>
          <a:xfrm>
            <a:off x="7890975" y="196175"/>
            <a:ext cx="539700" cy="230700"/>
            <a:chOff x="5765125" y="169575"/>
            <a:chExt cx="539700" cy="230700"/>
          </a:xfrm>
        </p:grpSpPr>
        <p:sp>
          <p:nvSpPr>
            <p:cNvPr id="135" name="Google Shape;135;p20"/>
            <p:cNvSpPr/>
            <p:nvPr/>
          </p:nvSpPr>
          <p:spPr>
            <a:xfrm>
              <a:off x="5765125" y="169575"/>
              <a:ext cx="230700" cy="2307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5919625" y="169575"/>
              <a:ext cx="230700" cy="2307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6074125" y="169575"/>
              <a:ext cx="230700" cy="2307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38" name="Google Shape;138;p20"/>
          <p:cNvSpPr txBox="1">
            <a:spLocks noGrp="1"/>
          </p:cNvSpPr>
          <p:nvPr>
            <p:ph type="title"/>
          </p:nvPr>
        </p:nvSpPr>
        <p:spPr>
          <a:xfrm>
            <a:off x="2210850" y="1345375"/>
            <a:ext cx="4722300" cy="7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subTitle" idx="1"/>
          </p:nvPr>
        </p:nvSpPr>
        <p:spPr>
          <a:xfrm>
            <a:off x="2210850" y="2086275"/>
            <a:ext cx="4722300" cy="19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6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subTitle" idx="1"/>
          </p:nvPr>
        </p:nvSpPr>
        <p:spPr>
          <a:xfrm>
            <a:off x="713225" y="1647750"/>
            <a:ext cx="33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subTitle" idx="2"/>
          </p:nvPr>
        </p:nvSpPr>
        <p:spPr>
          <a:xfrm>
            <a:off x="721750" y="2809025"/>
            <a:ext cx="33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ubTitle" idx="3"/>
          </p:nvPr>
        </p:nvSpPr>
        <p:spPr>
          <a:xfrm>
            <a:off x="713225" y="3970300"/>
            <a:ext cx="33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ubTitle" idx="4"/>
          </p:nvPr>
        </p:nvSpPr>
        <p:spPr>
          <a:xfrm>
            <a:off x="713230" y="1196250"/>
            <a:ext cx="334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ubTitle" idx="5"/>
          </p:nvPr>
        </p:nvSpPr>
        <p:spPr>
          <a:xfrm>
            <a:off x="721749" y="2357524"/>
            <a:ext cx="334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subTitle" idx="6"/>
          </p:nvPr>
        </p:nvSpPr>
        <p:spPr>
          <a:xfrm>
            <a:off x="713226" y="3518799"/>
            <a:ext cx="334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0" name="Google Shape;170;p24"/>
          <p:cNvSpPr>
            <a:spLocks noGrp="1"/>
          </p:cNvSpPr>
          <p:nvPr>
            <p:ph type="pic" idx="7"/>
          </p:nvPr>
        </p:nvSpPr>
        <p:spPr>
          <a:xfrm>
            <a:off x="5632100" y="-33300"/>
            <a:ext cx="3512100" cy="52101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71" name="Google Shape;171;p24"/>
          <p:cNvGrpSpPr/>
          <p:nvPr/>
        </p:nvGrpSpPr>
        <p:grpSpPr>
          <a:xfrm>
            <a:off x="182050" y="196175"/>
            <a:ext cx="539700" cy="230700"/>
            <a:chOff x="5765125" y="169575"/>
            <a:chExt cx="539700" cy="230700"/>
          </a:xfrm>
        </p:grpSpPr>
        <p:sp>
          <p:nvSpPr>
            <p:cNvPr id="172" name="Google Shape;172;p24"/>
            <p:cNvSpPr/>
            <p:nvPr/>
          </p:nvSpPr>
          <p:spPr>
            <a:xfrm>
              <a:off x="5765125" y="169575"/>
              <a:ext cx="230700" cy="2307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3" name="Google Shape;173;p24"/>
            <p:cNvSpPr/>
            <p:nvPr/>
          </p:nvSpPr>
          <p:spPr>
            <a:xfrm>
              <a:off x="5919625" y="169575"/>
              <a:ext cx="230700" cy="2307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6074125" y="169575"/>
              <a:ext cx="230700" cy="2307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3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76" name="Google Shape;276;p34"/>
            <p:cNvSpPr/>
            <p:nvPr/>
          </p:nvSpPr>
          <p:spPr>
            <a:xfrm>
              <a:off x="0" y="4681500"/>
              <a:ext cx="9144000" cy="46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7" name="Google Shape;277;p34"/>
            <p:cNvSpPr/>
            <p:nvPr/>
          </p:nvSpPr>
          <p:spPr>
            <a:xfrm>
              <a:off x="0" y="0"/>
              <a:ext cx="9144000" cy="46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/>
          <p:nvPr/>
        </p:nvSpPr>
        <p:spPr>
          <a:xfrm>
            <a:off x="1520850" y="-904450"/>
            <a:ext cx="1776900" cy="1776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35"/>
          <p:cNvSpPr/>
          <p:nvPr/>
        </p:nvSpPr>
        <p:spPr>
          <a:xfrm>
            <a:off x="8664300" y="0"/>
            <a:ext cx="4797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81" name="Google Shape;281;p35"/>
          <p:cNvGrpSpPr/>
          <p:nvPr/>
        </p:nvGrpSpPr>
        <p:grpSpPr>
          <a:xfrm>
            <a:off x="234750" y="4680200"/>
            <a:ext cx="539700" cy="230700"/>
            <a:chOff x="5765125" y="169575"/>
            <a:chExt cx="539700" cy="230700"/>
          </a:xfrm>
        </p:grpSpPr>
        <p:sp>
          <p:nvSpPr>
            <p:cNvPr id="282" name="Google Shape;282;p35"/>
            <p:cNvSpPr/>
            <p:nvPr/>
          </p:nvSpPr>
          <p:spPr>
            <a:xfrm>
              <a:off x="5765125" y="169575"/>
              <a:ext cx="230700" cy="2307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3" name="Google Shape;283;p35"/>
            <p:cNvSpPr/>
            <p:nvPr/>
          </p:nvSpPr>
          <p:spPr>
            <a:xfrm>
              <a:off x="5919625" y="169575"/>
              <a:ext cx="230700" cy="2307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4" name="Google Shape;284;p35"/>
            <p:cNvSpPr/>
            <p:nvPr/>
          </p:nvSpPr>
          <p:spPr>
            <a:xfrm>
              <a:off x="6074125" y="169575"/>
              <a:ext cx="230700" cy="2307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Urbanist SemiBold"/>
              <a:buNone/>
              <a:defRPr sz="34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Urbanist SemiBold"/>
              <a:buNone/>
              <a:defRPr sz="34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Urbanist SemiBold"/>
              <a:buNone/>
              <a:defRPr sz="34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Urbanist SemiBold"/>
              <a:buNone/>
              <a:defRPr sz="34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Urbanist SemiBold"/>
              <a:buNone/>
              <a:defRPr sz="34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Urbanist SemiBold"/>
              <a:buNone/>
              <a:defRPr sz="34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Urbanist SemiBold"/>
              <a:buNone/>
              <a:defRPr sz="34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Urbanist SemiBold"/>
              <a:buNone/>
              <a:defRPr sz="34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Urbanist SemiBold"/>
              <a:buNone/>
              <a:defRPr sz="34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8" r:id="rId5"/>
    <p:sldLayoutId id="2147483666" r:id="rId6"/>
    <p:sldLayoutId id="2147483670" r:id="rId7"/>
    <p:sldLayoutId id="2147483680" r:id="rId8"/>
    <p:sldLayoutId id="2147483681" r:id="rId9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9"/>
          <p:cNvSpPr txBox="1">
            <a:spLocks noGrp="1"/>
          </p:cNvSpPr>
          <p:nvPr>
            <p:ph type="ctrTitle"/>
          </p:nvPr>
        </p:nvSpPr>
        <p:spPr>
          <a:xfrm>
            <a:off x="2693504" y="930650"/>
            <a:ext cx="5993295" cy="147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chemeClr val="dk1"/>
              </a:buClr>
              <a:buSzPct val="84615"/>
            </a:pPr>
            <a:r>
              <a:rPr lang="en-US" sz="3200" b="1" dirty="0">
                <a:latin typeface="Aptos" panose="020B0004020202020204" pitchFamily="34" charset="0"/>
              </a:rPr>
              <a:t>Green Spaces and Gentrification:</a:t>
            </a:r>
            <a:br>
              <a:rPr lang="en-US" sz="3200" b="1" dirty="0">
                <a:latin typeface="Aptos" panose="020B0004020202020204" pitchFamily="34" charset="0"/>
              </a:rPr>
            </a:br>
            <a:r>
              <a:rPr lang="en-US" sz="3200" b="1" dirty="0">
                <a:latin typeface="Aptos" panose="020B0004020202020204" pitchFamily="34" charset="0"/>
              </a:rPr>
              <a:t>How Community Gardens Unintentionally Displace Their Creators</a:t>
            </a:r>
            <a:endParaRPr sz="3200" b="1" dirty="0">
              <a:latin typeface="Aptos" panose="020B0004020202020204" pitchFamily="34" charset="0"/>
            </a:endParaRPr>
          </a:p>
        </p:txBody>
      </p:sp>
      <p:sp>
        <p:nvSpPr>
          <p:cNvPr id="296" name="Google Shape;296;p39"/>
          <p:cNvSpPr txBox="1">
            <a:spLocks noGrp="1"/>
          </p:cNvSpPr>
          <p:nvPr>
            <p:ph type="subTitle" idx="1"/>
          </p:nvPr>
        </p:nvSpPr>
        <p:spPr>
          <a:xfrm>
            <a:off x="3258218" y="3926600"/>
            <a:ext cx="3878078" cy="67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endParaRPr lang="en-US" sz="1800" b="1" dirty="0">
              <a:latin typeface="Aptos SemiBold" panose="020B0004020202020204" pitchFamily="34" charset="0"/>
              <a:cs typeface="Segoe UI" panose="020B0502040204020203" pitchFamily="34" charset="0"/>
            </a:endParaRPr>
          </a:p>
          <a:p>
            <a:pPr algn="ctr"/>
            <a:endParaRPr lang="en-US" sz="1800" b="1" dirty="0">
              <a:latin typeface="Aptos SemiBold" panose="020B0004020202020204" pitchFamily="34" charset="0"/>
              <a:cs typeface="Segoe UI" panose="020B0502040204020203" pitchFamily="34" charset="0"/>
            </a:endParaRPr>
          </a:p>
          <a:p>
            <a:pPr algn="ctr"/>
            <a:endParaRPr lang="en-US" sz="1800" b="1" dirty="0">
              <a:latin typeface="Aptos SemiBold" panose="020B0004020202020204" pitchFamily="34" charset="0"/>
              <a:cs typeface="Segoe UI" panose="020B0502040204020203" pitchFamily="34" charset="0"/>
            </a:endParaRPr>
          </a:p>
          <a:p>
            <a:pPr algn="ctr"/>
            <a:endParaRPr lang="en-US" sz="1800" b="1" dirty="0">
              <a:latin typeface="Aptos SemiBold" panose="020B0004020202020204" pitchFamily="34" charset="0"/>
              <a:cs typeface="Segoe UI" panose="020B0502040204020203" pitchFamily="34" charset="0"/>
            </a:endParaRPr>
          </a:p>
          <a:p>
            <a:pPr algn="ctr"/>
            <a:endParaRPr lang="en-US" sz="1800" b="1" dirty="0">
              <a:latin typeface="Aptos SemiBold" panose="020B0004020202020204" pitchFamily="34" charset="0"/>
              <a:cs typeface="Segoe UI" panose="020B0502040204020203" pitchFamily="34" charset="0"/>
            </a:endParaRPr>
          </a:p>
          <a:p>
            <a:pPr algn="ctr"/>
            <a:endParaRPr lang="en-US" sz="1800" b="1" dirty="0">
              <a:latin typeface="Aptos SemiBold" panose="020B0004020202020204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800" b="1" dirty="0">
                <a:latin typeface="Aptos SemiBold" panose="020B0004020202020204" pitchFamily="34" charset="0"/>
                <a:cs typeface="Segoe UI" panose="020B0502040204020203" pitchFamily="34" charset="0"/>
              </a:rPr>
              <a:t>S. Dedhia, E. Iyer </a:t>
            </a:r>
          </a:p>
          <a:p>
            <a:pPr algn="ctr"/>
            <a:r>
              <a:rPr lang="en-US" sz="1800" b="1" dirty="0">
                <a:latin typeface="Aptos SemiBold" panose="020B0004020202020204" pitchFamily="34" charset="0"/>
                <a:cs typeface="Segoe UI" panose="020B0502040204020203" pitchFamily="34" charset="0"/>
              </a:rPr>
              <a:t>ICEE 2025</a:t>
            </a:r>
          </a:p>
          <a:p>
            <a:pPr algn="ctr"/>
            <a:r>
              <a:rPr lang="en-US" sz="1800" b="1" dirty="0">
                <a:latin typeface="Aptos SemiBold" panose="020B0004020202020204" pitchFamily="34" charset="0"/>
                <a:cs typeface="Segoe UI" panose="020B0502040204020203" pitchFamily="34" charset="0"/>
              </a:rPr>
              <a:t>Penn State Altoona</a:t>
            </a:r>
          </a:p>
        </p:txBody>
      </p:sp>
      <p:pic>
        <p:nvPicPr>
          <p:cNvPr id="297" name="Google Shape;297;p3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-33300"/>
            <a:ext cx="2425148" cy="5210102"/>
          </a:xfrm>
          <a:prstGeom prst="rect">
            <a:avLst/>
          </a:prstGeom>
        </p:spPr>
      </p:pic>
      <p:cxnSp>
        <p:nvCxnSpPr>
          <p:cNvPr id="298" name="Google Shape;298;p39"/>
          <p:cNvCxnSpPr>
            <a:cxnSpLocks/>
            <a:stCxn id="296" idx="3"/>
          </p:cNvCxnSpPr>
          <p:nvPr/>
        </p:nvCxnSpPr>
        <p:spPr>
          <a:xfrm>
            <a:off x="7136296" y="4265300"/>
            <a:ext cx="208727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" name="Google Shape;299;p39"/>
          <p:cNvSpPr/>
          <p:nvPr/>
        </p:nvSpPr>
        <p:spPr>
          <a:xfrm>
            <a:off x="1028842" y="-921750"/>
            <a:ext cx="1776900" cy="1776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Aptos" panose="020B0004020202020204" pitchFamily="34" charset="0"/>
                <a:cs typeface="Calibri" panose="020F0502020204030204" pitchFamily="34" charset="0"/>
              </a:rPr>
              <a:t>Contents of the presentation</a:t>
            </a:r>
            <a:endParaRPr b="1" dirty="0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5" name="Google Shape;305;p40"/>
          <p:cNvGraphicFramePr/>
          <p:nvPr>
            <p:extLst>
              <p:ext uri="{D42A27DB-BD31-4B8C-83A1-F6EECF244321}">
                <p14:modId xmlns:p14="http://schemas.microsoft.com/office/powerpoint/2010/main" val="223361554"/>
              </p:ext>
            </p:extLst>
          </p:nvPr>
        </p:nvGraphicFramePr>
        <p:xfrm>
          <a:off x="1023257" y="1400525"/>
          <a:ext cx="6770914" cy="2912166"/>
        </p:xfrm>
        <a:graphic>
          <a:graphicData uri="http://schemas.openxmlformats.org/drawingml/2006/table">
            <a:tbl>
              <a:tblPr>
                <a:noFill/>
                <a:tableStyleId>{657E6135-7D6A-466B-84F6-E84761146C44}</a:tableStyleId>
              </a:tblPr>
              <a:tblGrid>
                <a:gridCol w="3559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1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3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none" dirty="0">
                          <a:solidFill>
                            <a:schemeClr val="hlink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Research Motivation</a:t>
                      </a:r>
                      <a:endParaRPr sz="1000" b="1" u="none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u="none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1-2</a:t>
                      </a:r>
                      <a:endParaRPr sz="1000" u="none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3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dirty="0">
                          <a:solidFill>
                            <a:schemeClr val="hlink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D</a:t>
                      </a:r>
                      <a:r>
                        <a:rPr lang="en" sz="1000" b="1" u="none" dirty="0" err="1">
                          <a:solidFill>
                            <a:schemeClr val="hlink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ata</a:t>
                      </a:r>
                      <a:r>
                        <a:rPr lang="en" sz="1000" b="1" u="none" dirty="0">
                          <a:solidFill>
                            <a:schemeClr val="hlink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 &amp; Methodology</a:t>
                      </a:r>
                      <a:endParaRPr sz="1000" b="1" u="none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u="none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3-5</a:t>
                      </a:r>
                      <a:endParaRPr sz="1000" u="none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3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none" dirty="0">
                          <a:solidFill>
                            <a:schemeClr val="hlink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Results</a:t>
                      </a:r>
                      <a:endParaRPr sz="1000" b="1" u="none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u="none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6-8</a:t>
                      </a:r>
                      <a:endParaRPr sz="1000" u="none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3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none" dirty="0">
                          <a:solidFill>
                            <a:schemeClr val="hlink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Interpretations</a:t>
                      </a:r>
                      <a:endParaRPr sz="1000" b="1" u="none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u="none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11</a:t>
                      </a:r>
                      <a:endParaRPr sz="1000" u="none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3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none" dirty="0">
                          <a:solidFill>
                            <a:schemeClr val="hlink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Policy Implications</a:t>
                      </a:r>
                      <a:endParaRPr sz="1000" b="1" u="none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12</a:t>
                      </a:r>
                      <a:endParaRPr sz="1000" u="none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3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none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Conclusion &amp; </a:t>
                      </a:r>
                      <a:r>
                        <a:rPr lang="en" sz="1000" b="1" u="none" dirty="0" err="1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QnA</a:t>
                      </a:r>
                      <a:endParaRPr sz="1000" b="1" u="none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b="0" u="none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13-14</a:t>
                      </a:r>
                      <a:endParaRPr sz="1000" b="0" u="none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6" name="Google Shape;306;p40"/>
          <p:cNvSpPr txBox="1"/>
          <p:nvPr/>
        </p:nvSpPr>
        <p:spPr>
          <a:xfrm>
            <a:off x="713226" y="1215575"/>
            <a:ext cx="7717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713277" y="4133675"/>
            <a:ext cx="192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u="sng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Google Shape;308;p40"/>
          <p:cNvSpPr txBox="1"/>
          <p:nvPr/>
        </p:nvSpPr>
        <p:spPr>
          <a:xfrm>
            <a:off x="2963875" y="4133675"/>
            <a:ext cx="362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u="sng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1193625" y="438150"/>
            <a:ext cx="5054100" cy="68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b="1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Research Motivation</a:t>
            </a:r>
            <a:endParaRPr b="1" dirty="0">
              <a:latin typeface="Aptos" panose="020B0004020202020204" pitchFamily="34" charset="0"/>
            </a:endParaRPr>
          </a:p>
        </p:txBody>
      </p:sp>
      <p:sp>
        <p:nvSpPr>
          <p:cNvPr id="357" name="Google Shape;357;p45"/>
          <p:cNvSpPr txBox="1">
            <a:spLocks noGrp="1"/>
          </p:cNvSpPr>
          <p:nvPr>
            <p:ph type="subTitle" idx="1"/>
          </p:nvPr>
        </p:nvSpPr>
        <p:spPr>
          <a:xfrm>
            <a:off x="1193624" y="1813950"/>
            <a:ext cx="6698045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Community gardens often aim to serve marginalized communities.</a:t>
            </a:r>
            <a:b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</a:br>
            <a:endParaRPr lang="en-US" sz="1800" dirty="0">
              <a:latin typeface="Aptos" panose="020B0004020202020204" pitchFamily="34" charset="0"/>
            </a:endParaRPr>
          </a:p>
          <a:p>
            <a:pPr marL="285750" lvl="0" indent="-285750">
              <a:spcBef>
                <a:spcPts val="64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Increasing evidence suggests they may trigger gentrification.</a:t>
            </a:r>
            <a:b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</a:br>
            <a:endParaRPr lang="en-US" sz="1800" dirty="0">
              <a:latin typeface="Aptos" panose="020B0004020202020204" pitchFamily="34" charset="0"/>
            </a:endParaRPr>
          </a:p>
          <a:p>
            <a:pPr marL="285750" lvl="0" indent="-285750">
              <a:spcBef>
                <a:spcPts val="64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This study investigates whether grassroots greening leads to demographic shifts and in-migration of more affluent groups.</a:t>
            </a:r>
            <a:endParaRPr lang="en-US" sz="1800" dirty="0">
              <a:latin typeface="Aptos" panose="020B0004020202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sz="18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>
          <a:extLst>
            <a:ext uri="{FF2B5EF4-FFF2-40B4-BE49-F238E27FC236}">
              <a16:creationId xmlns:a16="http://schemas.microsoft.com/office/drawing/2014/main" id="{EC7F59F8-EA29-E460-0BD5-EC9DEFD78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>
            <a:extLst>
              <a:ext uri="{FF2B5EF4-FFF2-40B4-BE49-F238E27FC236}">
                <a16:creationId xmlns:a16="http://schemas.microsoft.com/office/drawing/2014/main" id="{EF2113A5-0CB1-6E35-33F2-134C2893CC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3624" y="438150"/>
            <a:ext cx="5865543" cy="68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b="1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Key Research Questions</a:t>
            </a:r>
            <a:endParaRPr b="1" dirty="0">
              <a:latin typeface="Aptos" panose="020B0004020202020204" pitchFamily="34" charset="0"/>
            </a:endParaRPr>
          </a:p>
        </p:txBody>
      </p:sp>
      <p:sp>
        <p:nvSpPr>
          <p:cNvPr id="357" name="Google Shape;357;p45">
            <a:extLst>
              <a:ext uri="{FF2B5EF4-FFF2-40B4-BE49-F238E27FC236}">
                <a16:creationId xmlns:a16="http://schemas.microsoft.com/office/drawing/2014/main" id="{552CBC31-44B4-D577-23AE-6A169501F33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93624" y="1813950"/>
            <a:ext cx="6698045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buSzPct val="100000"/>
              <a:buFont typeface="+mj-lt"/>
              <a:buAutoNum type="arabicPeriod"/>
            </a:pPr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Do community-led green spaces contribute to gentrification?</a:t>
            </a:r>
            <a:b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</a:br>
            <a:endParaRPr lang="en-US" sz="1800" dirty="0">
              <a:latin typeface="Aptos" panose="020B0004020202020204" pitchFamily="34" charset="0"/>
            </a:endParaRPr>
          </a:p>
          <a:p>
            <a:pPr marL="342900" lvl="0" indent="-342900">
              <a:spcBef>
                <a:spcPts val="640"/>
              </a:spcBef>
              <a:buSzPct val="100000"/>
              <a:buFont typeface="+mj-lt"/>
              <a:buAutoNum type="arabicPeriod"/>
            </a:pPr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 How does in-migration shift following greening?</a:t>
            </a:r>
            <a:b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</a:br>
            <a:endParaRPr lang="en-US" sz="1800" dirty="0">
              <a:latin typeface="Aptos" panose="020B0004020202020204" pitchFamily="34" charset="0"/>
            </a:endParaRPr>
          </a:p>
          <a:p>
            <a:pPr marL="342900" lvl="0" indent="-342900">
              <a:spcBef>
                <a:spcPts val="64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Are these effects consistent across cities and racial groups?</a:t>
            </a:r>
            <a:endParaRPr lang="en-US" sz="1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628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6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Aptos" panose="020B0004020202020204" pitchFamily="34" charset="0"/>
              </a:rPr>
              <a:t>Case Selection</a:t>
            </a:r>
            <a:endParaRPr b="1" dirty="0">
              <a:latin typeface="Aptos" panose="020B0004020202020204" pitchFamily="34" charset="0"/>
            </a:endParaRPr>
          </a:p>
        </p:txBody>
      </p:sp>
      <p:sp>
        <p:nvSpPr>
          <p:cNvPr id="374" name="Google Shape;374;p47"/>
          <p:cNvSpPr txBox="1">
            <a:spLocks noGrp="1"/>
          </p:cNvSpPr>
          <p:nvPr>
            <p:ph type="subTitle" idx="1"/>
          </p:nvPr>
        </p:nvSpPr>
        <p:spPr>
          <a:xfrm>
            <a:off x="713225" y="1647750"/>
            <a:ext cx="33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SzPct val="100000"/>
              <a:buFont typeface="Wingdings" pitchFamily="2" charset="2"/>
              <a:buChar char="ü"/>
            </a:pPr>
            <a:r>
              <a:rPr lang="en-US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606 Trail (2015)</a:t>
            </a:r>
          </a:p>
          <a:p>
            <a:pPr marL="285750" lvl="0" indent="-285750">
              <a:buSzPct val="100000"/>
              <a:buFont typeface="Wingdings" pitchFamily="2" charset="2"/>
              <a:buChar char="ü"/>
            </a:pPr>
            <a:r>
              <a:rPr lang="en-US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El Paseo Community Garden (2009)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75" name="Google Shape;375;p47"/>
          <p:cNvSpPr txBox="1">
            <a:spLocks noGrp="1"/>
          </p:cNvSpPr>
          <p:nvPr>
            <p:ph type="subTitle" idx="2"/>
          </p:nvPr>
        </p:nvSpPr>
        <p:spPr>
          <a:xfrm>
            <a:off x="721750" y="2809025"/>
            <a:ext cx="33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Bef>
                <a:spcPts val="640"/>
              </a:spcBef>
              <a:buSzPct val="100000"/>
              <a:buFont typeface="Wingdings" pitchFamily="2" charset="2"/>
              <a:buChar char="ü"/>
            </a:pPr>
            <a:r>
              <a:rPr lang="en-US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Echo Park Community Garden (2015)</a:t>
            </a:r>
          </a:p>
          <a:p>
            <a:pPr marL="285750" lvl="0" indent="-285750">
              <a:spcBef>
                <a:spcPts val="640"/>
              </a:spcBef>
              <a:buSzPct val="100000"/>
              <a:buFont typeface="Wingdings" pitchFamily="2" charset="2"/>
              <a:buChar char="ü"/>
            </a:pPr>
            <a:r>
              <a:rPr lang="en-US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East Hollywood Garden (2019)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76" name="Google Shape;376;p47"/>
          <p:cNvSpPr txBox="1">
            <a:spLocks noGrp="1"/>
          </p:cNvSpPr>
          <p:nvPr>
            <p:ph type="subTitle" idx="3"/>
          </p:nvPr>
        </p:nvSpPr>
        <p:spPr>
          <a:xfrm>
            <a:off x="318052" y="3833225"/>
            <a:ext cx="5092448" cy="865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Sites selected for grassroots origins and environmental justice framing.</a:t>
            </a:r>
            <a:endParaRPr sz="1800" dirty="0">
              <a:latin typeface="Aptos" panose="020B0004020202020204" pitchFamily="34" charset="0"/>
            </a:endParaRPr>
          </a:p>
        </p:txBody>
      </p:sp>
      <p:sp>
        <p:nvSpPr>
          <p:cNvPr id="377" name="Google Shape;377;p47"/>
          <p:cNvSpPr txBox="1">
            <a:spLocks noGrp="1"/>
          </p:cNvSpPr>
          <p:nvPr>
            <p:ph type="subTitle" idx="4"/>
          </p:nvPr>
        </p:nvSpPr>
        <p:spPr>
          <a:xfrm>
            <a:off x="713230" y="1196250"/>
            <a:ext cx="334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Chicago</a:t>
            </a:r>
            <a:endParaRPr b="1" dirty="0">
              <a:latin typeface="Aptos" panose="020B0004020202020204" pitchFamily="34" charset="0"/>
            </a:endParaRPr>
          </a:p>
        </p:txBody>
      </p:sp>
      <p:sp>
        <p:nvSpPr>
          <p:cNvPr id="378" name="Google Shape;378;p47"/>
          <p:cNvSpPr txBox="1">
            <a:spLocks noGrp="1"/>
          </p:cNvSpPr>
          <p:nvPr>
            <p:ph type="subTitle" idx="5"/>
          </p:nvPr>
        </p:nvSpPr>
        <p:spPr>
          <a:xfrm>
            <a:off x="721749" y="2357524"/>
            <a:ext cx="334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Aptos" panose="020B0004020202020204" pitchFamily="34" charset="0"/>
              </a:rPr>
              <a:t>Los Angeles</a:t>
            </a:r>
            <a:endParaRPr b="1" dirty="0">
              <a:latin typeface="Aptos" panose="020B0004020202020204" pitchFamily="34" charset="0"/>
            </a:endParaRPr>
          </a:p>
        </p:txBody>
      </p:sp>
      <p:pic>
        <p:nvPicPr>
          <p:cNvPr id="1028" name="Picture 4" descr="Bloomingdale Trail and The 606 - High Line Network">
            <a:extLst>
              <a:ext uri="{FF2B5EF4-FFF2-40B4-BE49-F238E27FC236}">
                <a16:creationId xmlns:a16="http://schemas.microsoft.com/office/drawing/2014/main" id="{7DDEEB0F-8721-517D-CE8D-49A6CF6BC326}"/>
              </a:ext>
            </a:extLst>
          </p:cNvPr>
          <p:cNvPicPr>
            <a:picLocks noGrp="1" noChangeAspect="1" noChangeArrowheads="1"/>
          </p:cNvPicPr>
          <p:nvPr>
            <p:ph type="pic" idx="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51" r="3315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Aptos" panose="020B0004020202020204" pitchFamily="34" charset="0"/>
              </a:rPr>
              <a:t>Data Sources</a:t>
            </a:r>
            <a:endParaRPr b="1" dirty="0">
              <a:latin typeface="Aptos" panose="020B00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1B60D6-2A7A-3BF4-F66C-39403401996A}"/>
              </a:ext>
            </a:extLst>
          </p:cNvPr>
          <p:cNvGrpSpPr/>
          <p:nvPr/>
        </p:nvGrpSpPr>
        <p:grpSpPr>
          <a:xfrm>
            <a:off x="1360616" y="1302027"/>
            <a:ext cx="6422768" cy="3267154"/>
            <a:chOff x="852077" y="1822875"/>
            <a:chExt cx="5554391" cy="2179776"/>
          </a:xfrm>
        </p:grpSpPr>
        <p:sp>
          <p:nvSpPr>
            <p:cNvPr id="665" name="Google Shape;665;p66"/>
            <p:cNvSpPr txBox="1"/>
            <p:nvPr/>
          </p:nvSpPr>
          <p:spPr>
            <a:xfrm>
              <a:off x="2612177" y="1822875"/>
              <a:ext cx="37485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dirty="0">
                <a:solidFill>
                  <a:schemeClr val="dk1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666" name="Google Shape;666;p66"/>
            <p:cNvSpPr txBox="1"/>
            <p:nvPr/>
          </p:nvSpPr>
          <p:spPr>
            <a:xfrm>
              <a:off x="1760064" y="1829775"/>
              <a:ext cx="37545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dk1"/>
                  </a:solidFill>
                  <a:latin typeface="Aptos" panose="020B0004020202020204" pitchFamily="34" charset="0"/>
                  <a:ea typeface="Urbanist SemiBold"/>
                  <a:cs typeface="Urbanist SemiBold"/>
                  <a:sym typeface="Urbanist SemiBold"/>
                </a:rPr>
                <a:t>Data</a:t>
              </a:r>
              <a:endParaRPr sz="2200" b="1" dirty="0">
                <a:solidFill>
                  <a:schemeClr val="dk1"/>
                </a:solidFill>
                <a:latin typeface="Aptos" panose="020B0004020202020204" pitchFamily="34" charset="0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668" name="Google Shape;668;p66"/>
            <p:cNvSpPr txBox="1"/>
            <p:nvPr/>
          </p:nvSpPr>
          <p:spPr>
            <a:xfrm>
              <a:off x="2738882" y="3197449"/>
              <a:ext cx="17805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rPr>
                <a:t>Zip Code Tabulation Areas</a:t>
              </a:r>
              <a:endParaRPr dirty="0">
                <a:solidFill>
                  <a:schemeClr val="dk1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669" name="Google Shape;669;p66"/>
            <p:cNvSpPr txBox="1"/>
            <p:nvPr/>
          </p:nvSpPr>
          <p:spPr>
            <a:xfrm>
              <a:off x="853431" y="3197451"/>
              <a:ext cx="17805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  <a:ea typeface="Calibri"/>
                  <a:cs typeface="Calibri"/>
                  <a:sym typeface="Calibri"/>
                </a:rPr>
                <a:t>Table S0701, </a:t>
              </a:r>
              <a:b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  <a:ea typeface="Calibri"/>
                  <a:cs typeface="Calibri"/>
                  <a:sym typeface="Calibri"/>
                </a:rPr>
              </a:b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  <a:ea typeface="Calibri"/>
                  <a:cs typeface="Calibri"/>
                  <a:sym typeface="Calibri"/>
                </a:rPr>
                <a:t>2005–2022</a:t>
              </a:r>
              <a:endParaRPr dirty="0">
                <a:solidFill>
                  <a:schemeClr val="dk1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670" name="Google Shape;670;p66"/>
            <p:cNvSpPr txBox="1"/>
            <p:nvPr/>
          </p:nvSpPr>
          <p:spPr>
            <a:xfrm>
              <a:off x="4624314" y="3197451"/>
              <a:ext cx="17805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rPr>
                <a:t>By – race, income, origin</a:t>
              </a:r>
              <a:endParaRPr dirty="0">
                <a:solidFill>
                  <a:schemeClr val="dk1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671" name="Google Shape;671;p66"/>
            <p:cNvSpPr txBox="1"/>
            <p:nvPr/>
          </p:nvSpPr>
          <p:spPr>
            <a:xfrm>
              <a:off x="2737532" y="2785250"/>
              <a:ext cx="17835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chemeClr val="dk1"/>
                  </a:solidFill>
                  <a:latin typeface="Aptos" panose="020B0004020202020204" pitchFamily="34" charset="0"/>
                  <a:ea typeface="Urbanist SemiBold"/>
                  <a:cs typeface="Urbanist SemiBold"/>
                  <a:sym typeface="Urbanist SemiBold"/>
                </a:rPr>
                <a:t>ZCTA</a:t>
              </a:r>
              <a:endParaRPr sz="2000" b="1" dirty="0">
                <a:solidFill>
                  <a:schemeClr val="dk1"/>
                </a:solidFill>
                <a:latin typeface="Aptos" panose="020B0004020202020204" pitchFamily="34" charset="0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673" name="Google Shape;673;p66"/>
            <p:cNvSpPr txBox="1"/>
            <p:nvPr/>
          </p:nvSpPr>
          <p:spPr>
            <a:xfrm>
              <a:off x="852077" y="2785251"/>
              <a:ext cx="17835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chemeClr val="dk1"/>
                  </a:solidFill>
                  <a:latin typeface="Aptos" panose="020B0004020202020204" pitchFamily="34" charset="0"/>
                  <a:ea typeface="Urbanist SemiBold"/>
                  <a:cs typeface="Urbanist SemiBold"/>
                  <a:sym typeface="Urbanist SemiBold"/>
                </a:rPr>
                <a:t>ACS 5Y Estimate</a:t>
              </a:r>
              <a:endParaRPr sz="1600" b="1" dirty="0">
                <a:solidFill>
                  <a:schemeClr val="dk1"/>
                </a:solidFill>
                <a:latin typeface="Aptos" panose="020B0004020202020204" pitchFamily="34" charset="0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674" name="Google Shape;674;p66"/>
            <p:cNvSpPr txBox="1"/>
            <p:nvPr/>
          </p:nvSpPr>
          <p:spPr>
            <a:xfrm>
              <a:off x="4622968" y="2785251"/>
              <a:ext cx="17835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Aptos" panose="020B0004020202020204" pitchFamily="34" charset="0"/>
                  <a:ea typeface="Urbanist SemiBold"/>
                  <a:cs typeface="Urbanist SemiBold"/>
                  <a:sym typeface="Urbanist SemiBold"/>
                </a:rPr>
                <a:t>Migration Data</a:t>
              </a:r>
              <a:endParaRPr sz="1800" b="1" dirty="0">
                <a:solidFill>
                  <a:schemeClr val="dk1"/>
                </a:solidFill>
                <a:latin typeface="Aptos" panose="020B0004020202020204" pitchFamily="34" charset="0"/>
                <a:ea typeface="Urbanist SemiBold"/>
                <a:cs typeface="Urbanist SemiBold"/>
                <a:sym typeface="Urbanist SemiBold"/>
              </a:endParaRPr>
            </a:p>
          </p:txBody>
        </p:sp>
        <p:cxnSp>
          <p:nvCxnSpPr>
            <p:cNvPr id="675" name="Google Shape;675;p66"/>
            <p:cNvCxnSpPr>
              <a:cxnSpLocks/>
              <a:endCxn id="673" idx="0"/>
            </p:cNvCxnSpPr>
            <p:nvPr/>
          </p:nvCxnSpPr>
          <p:spPr>
            <a:xfrm rot="10800000" flipV="1">
              <a:off x="1743827" y="2524275"/>
              <a:ext cx="2742600" cy="260976"/>
            </a:xfrm>
            <a:prstGeom prst="bentConnector2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6" name="Google Shape;676;p66"/>
            <p:cNvCxnSpPr>
              <a:cxnSpLocks/>
              <a:endCxn id="671" idx="0"/>
            </p:cNvCxnSpPr>
            <p:nvPr/>
          </p:nvCxnSpPr>
          <p:spPr>
            <a:xfrm rot="5400000">
              <a:off x="3388699" y="2544621"/>
              <a:ext cx="481213" cy="45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7" name="Google Shape;677;p66"/>
            <p:cNvCxnSpPr>
              <a:cxnSpLocks/>
              <a:endCxn id="674" idx="0"/>
            </p:cNvCxnSpPr>
            <p:nvPr/>
          </p:nvCxnSpPr>
          <p:spPr>
            <a:xfrm>
              <a:off x="3594722" y="2524275"/>
              <a:ext cx="1919996" cy="260976"/>
            </a:xfrm>
            <a:prstGeom prst="bentConnector2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>
          <a:extLst>
            <a:ext uri="{FF2B5EF4-FFF2-40B4-BE49-F238E27FC236}">
              <a16:creationId xmlns:a16="http://schemas.microsoft.com/office/drawing/2014/main" id="{B7C35D8E-5414-5269-8093-98F6BB14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>
            <a:extLst>
              <a:ext uri="{FF2B5EF4-FFF2-40B4-BE49-F238E27FC236}">
                <a16:creationId xmlns:a16="http://schemas.microsoft.com/office/drawing/2014/main" id="{AB156B41-4EFB-5253-0147-68F9119417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3625" y="438150"/>
            <a:ext cx="5054100" cy="68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b="1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Methodology</a:t>
            </a:r>
            <a:endParaRPr b="1" dirty="0">
              <a:latin typeface="Aptos" panose="020B0004020202020204" pitchFamily="34" charset="0"/>
            </a:endParaRPr>
          </a:p>
        </p:txBody>
      </p:sp>
      <p:sp>
        <p:nvSpPr>
          <p:cNvPr id="357" name="Google Shape;357;p45">
            <a:extLst>
              <a:ext uri="{FF2B5EF4-FFF2-40B4-BE49-F238E27FC236}">
                <a16:creationId xmlns:a16="http://schemas.microsoft.com/office/drawing/2014/main" id="{31340150-CAF2-AADD-B8E6-D2DC19FC57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93625" y="1470000"/>
            <a:ext cx="6698045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ct val="100000"/>
              <a:buNone/>
            </a:pPr>
            <a:r>
              <a:rPr lang="en-US" sz="2000" i="1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Difference - in - difference</a:t>
            </a:r>
          </a:p>
          <a:p>
            <a:pPr marL="0" lvl="0" indent="0">
              <a:buSzPct val="100000"/>
              <a:buNone/>
            </a:pPr>
            <a:endParaRPr lang="en-US" sz="2000" i="1" dirty="0"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lvl="0" indent="0" algn="ctr">
              <a:buSzPct val="100000"/>
              <a:buNone/>
            </a:pPr>
            <a:r>
              <a:rPr lang="en-US" sz="2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Y</a:t>
            </a:r>
            <a:r>
              <a:rPr lang="en-US" sz="2800" baseline="-250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it</a:t>
            </a:r>
            <a:r>
              <a:rPr lang="en-US" sz="2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 = </a:t>
            </a:r>
            <a:r>
              <a:rPr lang="el-GR" sz="2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α + β·</a:t>
            </a:r>
            <a:r>
              <a:rPr lang="en-US" sz="2800" dirty="0" err="1">
                <a:latin typeface="Aptos" panose="020B0004020202020204" pitchFamily="34" charset="0"/>
                <a:ea typeface="Calibri"/>
                <a:cs typeface="Calibri"/>
                <a:sym typeface="Calibri"/>
              </a:rPr>
              <a:t>Post</a:t>
            </a:r>
            <a:r>
              <a:rPr lang="en-US" sz="2800" baseline="-25000" dirty="0" err="1">
                <a:latin typeface="Aptos" panose="020B0004020202020204" pitchFamily="34" charset="0"/>
                <a:ea typeface="Calibri"/>
                <a:cs typeface="Calibri"/>
                <a:sym typeface="Calibri"/>
              </a:rPr>
              <a:t>it</a:t>
            </a:r>
            <a:r>
              <a:rPr lang="en-US" sz="2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 + </a:t>
            </a:r>
            <a:r>
              <a:rPr lang="el-GR" sz="2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γ</a:t>
            </a:r>
            <a:r>
              <a:rPr lang="en-US" sz="2800" baseline="-25000" dirty="0" err="1">
                <a:latin typeface="Aptos" panose="020B0004020202020204" pitchFamily="34" charset="0"/>
                <a:ea typeface="Calibri"/>
                <a:cs typeface="Calibri"/>
                <a:sym typeface="Calibri"/>
              </a:rPr>
              <a:t>i</a:t>
            </a:r>
            <a:r>
              <a:rPr lang="en-US" sz="2800" baseline="-250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 </a:t>
            </a:r>
            <a:r>
              <a:rPr lang="en-US" sz="2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+ </a:t>
            </a:r>
            <a:r>
              <a:rPr lang="el-GR" sz="2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δ</a:t>
            </a:r>
            <a:r>
              <a:rPr lang="en-US" sz="2800" baseline="-250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t</a:t>
            </a:r>
            <a:r>
              <a:rPr lang="en-US" sz="2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 + </a:t>
            </a:r>
            <a:r>
              <a:rPr lang="el-GR" sz="2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ε</a:t>
            </a:r>
            <a:r>
              <a:rPr lang="en-US" sz="2800" baseline="-250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it</a:t>
            </a:r>
            <a:endParaRPr lang="en-US" sz="2800" baseline="-25000" dirty="0">
              <a:latin typeface="Aptos" panose="020B0004020202020204" pitchFamily="34" charset="0"/>
            </a:endParaRPr>
          </a:p>
          <a:p>
            <a:pPr marL="488950" lvl="0" indent="-285750">
              <a:spcBef>
                <a:spcPts val="640"/>
              </a:spcBef>
              <a:buSzPct val="100000"/>
              <a:buFont typeface="Arial" panose="020B0604020202020204" pitchFamily="34" charset="0"/>
              <a:buChar char="•"/>
            </a:pPr>
            <a:endParaRPr lang="en-US" sz="1800" dirty="0">
              <a:latin typeface="Aptos" panose="020B0004020202020204" pitchFamily="34" charset="0"/>
            </a:endParaRPr>
          </a:p>
          <a:p>
            <a:pPr marL="342900" lvl="0" indent="-342900">
              <a:spcBef>
                <a:spcPts val="64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Outcome: Share of in-migrants by subgroup (e.g., White, Asian)</a:t>
            </a:r>
            <a:endParaRPr lang="en-US" sz="1800" dirty="0">
              <a:latin typeface="Aptos" panose="020B0004020202020204" pitchFamily="34" charset="0"/>
            </a:endParaRPr>
          </a:p>
          <a:p>
            <a:pPr marL="342900" lvl="0" indent="-342900">
              <a:spcBef>
                <a:spcPts val="64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800" dirty="0" err="1">
                <a:latin typeface="Aptos" panose="020B0004020202020204" pitchFamily="34" charset="0"/>
                <a:ea typeface="Calibri"/>
                <a:cs typeface="Calibri"/>
                <a:sym typeface="Calibri"/>
              </a:rPr>
              <a:t>Post</a:t>
            </a:r>
            <a:r>
              <a:rPr lang="en-US" sz="1800" baseline="-25000" dirty="0" err="1">
                <a:latin typeface="Aptos" panose="020B0004020202020204" pitchFamily="34" charset="0"/>
                <a:ea typeface="Calibri"/>
                <a:cs typeface="Calibri"/>
                <a:sym typeface="Calibri"/>
              </a:rPr>
              <a:t>it</a:t>
            </a:r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 = 1 after green space creation in ZIP </a:t>
            </a:r>
            <a:r>
              <a:rPr lang="en-US" sz="1800" dirty="0" err="1">
                <a:latin typeface="Aptos" panose="020B0004020202020204" pitchFamily="34" charset="0"/>
                <a:ea typeface="Calibri"/>
                <a:cs typeface="Calibri"/>
                <a:sym typeface="Calibri"/>
              </a:rPr>
              <a:t>i</a:t>
            </a:r>
            <a:endParaRPr lang="en-US" sz="1800" dirty="0">
              <a:latin typeface="Aptos" panose="020B0004020202020204" pitchFamily="34" charset="0"/>
            </a:endParaRPr>
          </a:p>
          <a:p>
            <a:pPr marL="342900" lvl="0" indent="-342900">
              <a:spcBef>
                <a:spcPts val="64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ZIP and year fixed effects included</a:t>
            </a:r>
            <a:endParaRPr lang="en-US" sz="1800" dirty="0">
              <a:latin typeface="Aptos" panose="020B0004020202020204" pitchFamily="34" charset="0"/>
            </a:endParaRPr>
          </a:p>
          <a:p>
            <a:pPr marL="342900" lvl="0" indent="-342900">
              <a:spcBef>
                <a:spcPts val="64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Separate models for each site and subgroup</a:t>
            </a:r>
            <a:endParaRPr lang="en-US" sz="1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84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>
          <a:extLst>
            <a:ext uri="{FF2B5EF4-FFF2-40B4-BE49-F238E27FC236}">
              <a16:creationId xmlns:a16="http://schemas.microsoft.com/office/drawing/2014/main" id="{FA033E02-1874-5740-2A89-C7DEE9875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5">
            <a:extLst>
              <a:ext uri="{FF2B5EF4-FFF2-40B4-BE49-F238E27FC236}">
                <a16:creationId xmlns:a16="http://schemas.microsoft.com/office/drawing/2014/main" id="{2E4436BE-416A-E098-97C6-6803E82326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93625" y="1470000"/>
            <a:ext cx="6698045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ct val="100000"/>
              <a:buNone/>
            </a:pPr>
            <a:r>
              <a:rPr lang="en-US" sz="2000" i="1" dirty="0">
                <a:latin typeface="Calibri"/>
                <a:ea typeface="Calibri"/>
                <a:cs typeface="Calibri"/>
                <a:sym typeface="Calibri"/>
              </a:rPr>
              <a:t>--table</a:t>
            </a:r>
            <a:endParaRPr lang="en-US" sz="1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5BDCE7-EC3A-EAE1-2B46-C40C3126F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867003"/>
              </p:ext>
            </p:extLst>
          </p:nvPr>
        </p:nvGraphicFramePr>
        <p:xfrm>
          <a:off x="731838" y="179070"/>
          <a:ext cx="7963352" cy="458449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990838">
                  <a:extLst>
                    <a:ext uri="{9D8B030D-6E8A-4147-A177-3AD203B41FA5}">
                      <a16:colId xmlns:a16="http://schemas.microsoft.com/office/drawing/2014/main" val="1032085614"/>
                    </a:ext>
                  </a:extLst>
                </a:gridCol>
                <a:gridCol w="1544524">
                  <a:extLst>
                    <a:ext uri="{9D8B030D-6E8A-4147-A177-3AD203B41FA5}">
                      <a16:colId xmlns:a16="http://schemas.microsoft.com/office/drawing/2014/main" val="520739502"/>
                    </a:ext>
                  </a:extLst>
                </a:gridCol>
                <a:gridCol w="2437152">
                  <a:extLst>
                    <a:ext uri="{9D8B030D-6E8A-4147-A177-3AD203B41FA5}">
                      <a16:colId xmlns:a16="http://schemas.microsoft.com/office/drawing/2014/main" val="362382610"/>
                    </a:ext>
                  </a:extLst>
                </a:gridCol>
                <a:gridCol w="1990838">
                  <a:extLst>
                    <a:ext uri="{9D8B030D-6E8A-4147-A177-3AD203B41FA5}">
                      <a16:colId xmlns:a16="http://schemas.microsoft.com/office/drawing/2014/main" val="2468798247"/>
                    </a:ext>
                  </a:extLst>
                </a:gridCol>
              </a:tblGrid>
              <a:tr h="31729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Garden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Mean In-Migration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Group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106328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/>
                        <a:t>606 Chicago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318309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/>
                        <a:t>606 Chicago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309276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/>
                        <a:t>East Hollywood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723797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 dirty="0"/>
                        <a:t>East Hollywood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981689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/>
                        <a:t>Echo Park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662433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/>
                        <a:t>Echo Park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1940253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 dirty="0"/>
                        <a:t>Pilsen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White (no pre data)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429427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/>
                        <a:t>606 Chicago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015937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/>
                        <a:t>606 Chicago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11.27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3110210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/>
                        <a:t>East Hollywood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821484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/>
                        <a:t>East Hollywood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0132706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/>
                        <a:t>Echo Park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913303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/>
                        <a:t>Echo Park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460113"/>
                  </a:ext>
                </a:extLst>
              </a:tr>
              <a:tr h="186641">
                <a:tc>
                  <a:txBody>
                    <a:bodyPr/>
                    <a:lstStyle/>
                    <a:p>
                      <a:r>
                        <a:rPr lang="en-US" dirty="0"/>
                        <a:t>Pilsen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Asian (no pre data)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069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920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>
          <a:extLst>
            <a:ext uri="{FF2B5EF4-FFF2-40B4-BE49-F238E27FC236}">
              <a16:creationId xmlns:a16="http://schemas.microsoft.com/office/drawing/2014/main" id="{A1D56696-FEE1-3BE7-3A36-60743874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>
            <a:extLst>
              <a:ext uri="{FF2B5EF4-FFF2-40B4-BE49-F238E27FC236}">
                <a16:creationId xmlns:a16="http://schemas.microsoft.com/office/drawing/2014/main" id="{E24D7F5F-A3EB-5BAC-B090-7C5C714C14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36" y="438150"/>
            <a:ext cx="7763255" cy="68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b="1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Difference-in-Differences Estimates</a:t>
            </a:r>
            <a:endParaRPr b="1" dirty="0">
              <a:latin typeface="Aptos" panose="020B00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3366E7-800D-C0B2-626D-07E5150CB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775592"/>
              </p:ext>
            </p:extLst>
          </p:nvPr>
        </p:nvGraphicFramePr>
        <p:xfrm>
          <a:off x="1273627" y="1126050"/>
          <a:ext cx="6934200" cy="362712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386840">
                  <a:extLst>
                    <a:ext uri="{9D8B030D-6E8A-4147-A177-3AD203B41FA5}">
                      <a16:colId xmlns:a16="http://schemas.microsoft.com/office/drawing/2014/main" val="2142293173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4177202678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1539888316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446901874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19196362"/>
                    </a:ext>
                  </a:extLst>
                </a:gridCol>
              </a:tblGrid>
              <a:tr h="46726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Subgroup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Garden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Pre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Post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DiD</a:t>
                      </a: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 Estimate (</a:t>
                      </a:r>
                      <a:r>
                        <a:rPr lang="el-GR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133867"/>
                  </a:ext>
                </a:extLst>
              </a:tr>
              <a:tr h="389068">
                <a:tc>
                  <a:txBody>
                    <a:bodyPr/>
                    <a:lstStyle/>
                    <a:p>
                      <a:r>
                        <a:rPr lang="en-US"/>
                        <a:t>White (Out-of-State)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606 Chicago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3.324</a:t>
                      </a:r>
                      <a:r>
                        <a:rPr lang="en-US" b="0" baseline="30000" dirty="0"/>
                        <a:t>✱✱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7549743"/>
                  </a:ext>
                </a:extLst>
              </a:tr>
              <a:tr h="503648">
                <a:tc>
                  <a:txBody>
                    <a:bodyPr/>
                    <a:lstStyle/>
                    <a:p>
                      <a:r>
                        <a:rPr lang="en-US"/>
                        <a:t>White (Out-of-State)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East Hollywood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3.510</a:t>
                      </a:r>
                      <a:r>
                        <a:rPr lang="en-US" b="0" baseline="30000" dirty="0"/>
                        <a:t>✱✱✱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1827840"/>
                  </a:ext>
                </a:extLst>
              </a:tr>
              <a:tr h="503648">
                <a:tc>
                  <a:txBody>
                    <a:bodyPr/>
                    <a:lstStyle/>
                    <a:p>
                      <a:r>
                        <a:rPr lang="en-US"/>
                        <a:t>White (Out-of-State)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Echo Park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3.986</a:t>
                      </a:r>
                      <a:r>
                        <a:rPr lang="en-US" b="0" baseline="30000" dirty="0"/>
                        <a:t>✱✱✱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6761531"/>
                  </a:ext>
                </a:extLst>
              </a:tr>
              <a:tr h="503648">
                <a:tc>
                  <a:txBody>
                    <a:bodyPr/>
                    <a:lstStyle/>
                    <a:p>
                      <a:r>
                        <a:rPr lang="en-US"/>
                        <a:t>Asian (Out-of-State)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606 Chicago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3.717</a:t>
                      </a:r>
                      <a:r>
                        <a:rPr lang="en-US" b="0" baseline="30000" dirty="0"/>
                        <a:t>✱✱✱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911170"/>
                  </a:ext>
                </a:extLst>
              </a:tr>
              <a:tr h="503648">
                <a:tc>
                  <a:txBody>
                    <a:bodyPr/>
                    <a:lstStyle/>
                    <a:p>
                      <a:r>
                        <a:rPr lang="en-US"/>
                        <a:t>Asian (Out-of-State)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East Hollywood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5.137</a:t>
                      </a:r>
                      <a:r>
                        <a:rPr lang="en-US" b="0" baseline="30000" dirty="0"/>
                        <a:t>✱✱✱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744210"/>
                  </a:ext>
                </a:extLst>
              </a:tr>
              <a:tr h="503648">
                <a:tc>
                  <a:txBody>
                    <a:bodyPr/>
                    <a:lstStyle/>
                    <a:p>
                      <a:r>
                        <a:rPr lang="en-US"/>
                        <a:t>Asian (Out-of-State)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Echo Park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3.986</a:t>
                      </a:r>
                      <a:r>
                        <a:rPr lang="en-US" b="0" baseline="30000" dirty="0"/>
                        <a:t>✱✱✱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263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45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3D56480D-2BCB-C7EB-4C51-52B8A749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>
            <a:extLst>
              <a:ext uri="{FF2B5EF4-FFF2-40B4-BE49-F238E27FC236}">
                <a16:creationId xmlns:a16="http://schemas.microsoft.com/office/drawing/2014/main" id="{F31D4C4B-7ECC-FA30-3517-2748C322A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36" y="438150"/>
            <a:ext cx="7763255" cy="68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b="1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Difference-in-Differences Estimates</a:t>
            </a:r>
            <a:endParaRPr b="1" dirty="0">
              <a:latin typeface="Aptos" panose="020B0004020202020204" pitchFamily="34" charset="0"/>
            </a:endParaRPr>
          </a:p>
        </p:txBody>
      </p:sp>
      <p:sp>
        <p:nvSpPr>
          <p:cNvPr id="357" name="Google Shape;357;p45">
            <a:extLst>
              <a:ext uri="{FF2B5EF4-FFF2-40B4-BE49-F238E27FC236}">
                <a16:creationId xmlns:a16="http://schemas.microsoft.com/office/drawing/2014/main" id="{F2AAD030-5C6E-F7CD-76A1-369F1B9968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93625" y="1470000"/>
            <a:ext cx="6698045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Statistically significant increases in all cases: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lvl="0" indent="-342900">
              <a:spcBef>
                <a:spcPts val="64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White: +3.3 to +4.0 pp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lvl="0" indent="-342900">
              <a:spcBef>
                <a:spcPts val="64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Asian: +3.7 to +5.1 pp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lvl="0" indent="-342900">
              <a:spcBef>
                <a:spcPts val="64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Effects persist after controlling for ZIP and year fixed effects.</a:t>
            </a:r>
          </a:p>
        </p:txBody>
      </p:sp>
    </p:spTree>
    <p:extLst>
      <p:ext uri="{BB962C8B-B14F-4D97-AF65-F5344CB8AC3E}">
        <p14:creationId xmlns:p14="http://schemas.microsoft.com/office/powerpoint/2010/main" val="3288278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>
          <a:extLst>
            <a:ext uri="{FF2B5EF4-FFF2-40B4-BE49-F238E27FC236}">
              <a16:creationId xmlns:a16="http://schemas.microsoft.com/office/drawing/2014/main" id="{12BE78EE-B797-3648-0DA1-9F6BBA5FF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>
            <a:extLst>
              <a:ext uri="{FF2B5EF4-FFF2-40B4-BE49-F238E27FC236}">
                <a16:creationId xmlns:a16="http://schemas.microsoft.com/office/drawing/2014/main" id="{99874C59-56D6-E14C-46AF-DF040D1B0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36" y="438150"/>
            <a:ext cx="7763255" cy="68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b="1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Visualization – </a:t>
            </a:r>
            <a:r>
              <a:rPr lang="en-US" sz="3600" b="1" dirty="0" err="1">
                <a:latin typeface="Aptos" panose="020B0004020202020204" pitchFamily="34" charset="0"/>
                <a:ea typeface="Calibri"/>
                <a:cs typeface="Calibri"/>
                <a:sym typeface="Calibri"/>
              </a:rPr>
              <a:t>DiD</a:t>
            </a:r>
            <a:endParaRPr b="1" dirty="0"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3FB478-1074-4AC9-4479-9670EEC177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39" r="970"/>
          <a:stretch>
            <a:fillRect/>
          </a:stretch>
        </p:blipFill>
        <p:spPr>
          <a:xfrm>
            <a:off x="1177259" y="1110439"/>
            <a:ext cx="6670607" cy="359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10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 txBox="1">
            <a:spLocks noGrp="1"/>
          </p:cNvSpPr>
          <p:nvPr>
            <p:ph type="title"/>
          </p:nvPr>
        </p:nvSpPr>
        <p:spPr>
          <a:xfrm>
            <a:off x="790524" y="645012"/>
            <a:ext cx="5354243" cy="14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latin typeface="Aptos" panose="020B0004020202020204" pitchFamily="34" charset="0"/>
              </a:rPr>
              <a:t>Interpretation of Findings</a:t>
            </a:r>
            <a:endParaRPr sz="3600" b="1" dirty="0">
              <a:latin typeface="Aptos" panose="020B0004020202020204" pitchFamily="34" charset="0"/>
            </a:endParaRPr>
          </a:p>
        </p:txBody>
      </p:sp>
      <p:pic>
        <p:nvPicPr>
          <p:cNvPr id="342" name="Google Shape;342;p43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2714" b="2705"/>
          <a:stretch/>
        </p:blipFill>
        <p:spPr>
          <a:xfrm>
            <a:off x="6362701" y="-33300"/>
            <a:ext cx="2781474" cy="5210102"/>
          </a:xfrm>
          <a:prstGeom prst="rect">
            <a:avLst/>
          </a:prstGeom>
        </p:spPr>
      </p:pic>
      <p:sp>
        <p:nvSpPr>
          <p:cNvPr id="344" name="Google Shape;344;p43"/>
          <p:cNvSpPr/>
          <p:nvPr/>
        </p:nvSpPr>
        <p:spPr>
          <a:xfrm>
            <a:off x="5673937" y="-778497"/>
            <a:ext cx="1776900" cy="1776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205A92-A6C8-ADC7-525F-49AC3414091E}"/>
              </a:ext>
            </a:extLst>
          </p:cNvPr>
          <p:cNvSpPr txBox="1"/>
          <p:nvPr/>
        </p:nvSpPr>
        <p:spPr>
          <a:xfrm>
            <a:off x="932688" y="2112012"/>
            <a:ext cx="447141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Even community-led greening attracts out-of-state, affluent newcomers.</a:t>
            </a:r>
            <a:endParaRPr lang="en-US" sz="1800" dirty="0">
              <a:latin typeface="Aptos" panose="020B0004020202020204" pitchFamily="34" charset="0"/>
            </a:endParaRPr>
          </a:p>
          <a:p>
            <a:pPr marL="285750" lvl="0" indent="-285750">
              <a:spcBef>
                <a:spcPts val="64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Timing aligns closely with green space openings.</a:t>
            </a:r>
            <a:endParaRPr lang="en-US" sz="1800" dirty="0">
              <a:latin typeface="Aptos" panose="020B0004020202020204" pitchFamily="34" charset="0"/>
            </a:endParaRPr>
          </a:p>
          <a:p>
            <a:pPr marL="285750" lvl="0" indent="-285750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Greening acts as a signal of neighborhood revitalization.</a:t>
            </a:r>
            <a:endParaRPr lang="en-US" sz="1800" dirty="0">
              <a:latin typeface="Aptos" panose="020B0004020202020204" pitchFamily="34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sz="18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>
          <a:extLst>
            <a:ext uri="{FF2B5EF4-FFF2-40B4-BE49-F238E27FC236}">
              <a16:creationId xmlns:a16="http://schemas.microsoft.com/office/drawing/2014/main" id="{6FC83B9F-600B-492D-AA4E-BBE703C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>
            <a:extLst>
              <a:ext uri="{FF2B5EF4-FFF2-40B4-BE49-F238E27FC236}">
                <a16:creationId xmlns:a16="http://schemas.microsoft.com/office/drawing/2014/main" id="{436C3E5F-B8B1-7260-AE5D-9BB1715BF6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37" y="438150"/>
            <a:ext cx="7260732" cy="68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b="1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Policy Implications</a:t>
            </a:r>
            <a:endParaRPr b="1" dirty="0">
              <a:latin typeface="Aptos" panose="020B0004020202020204" pitchFamily="34" charset="0"/>
            </a:endParaRPr>
          </a:p>
        </p:txBody>
      </p:sp>
      <p:sp>
        <p:nvSpPr>
          <p:cNvPr id="357" name="Google Shape;357;p45">
            <a:extLst>
              <a:ext uri="{FF2B5EF4-FFF2-40B4-BE49-F238E27FC236}">
                <a16:creationId xmlns:a16="http://schemas.microsoft.com/office/drawing/2014/main" id="{60511E98-88A5-EF6A-7EB6-EC03C6C5127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93625" y="1470000"/>
            <a:ext cx="6698045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Require affordability and anti-displacement tools near green spaces.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indent="-342900">
              <a:spcBef>
                <a:spcPts val="64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Promote community land trusts and stewardship models.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indent="-342900">
              <a:spcBef>
                <a:spcPts val="64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Ensure greening does not accelerate exclusion.</a:t>
            </a:r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889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72"/>
          <p:cNvSpPr txBox="1">
            <a:spLocks noGrp="1"/>
          </p:cNvSpPr>
          <p:nvPr>
            <p:ph type="title"/>
          </p:nvPr>
        </p:nvSpPr>
        <p:spPr>
          <a:xfrm>
            <a:off x="2210850" y="1345375"/>
            <a:ext cx="4722300" cy="7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Aptos" panose="020B0004020202020204" pitchFamily="34" charset="0"/>
              </a:rPr>
              <a:t>Conclusion</a:t>
            </a:r>
            <a:endParaRPr b="1" dirty="0">
              <a:latin typeface="Aptos" panose="020B0004020202020204" pitchFamily="34" charset="0"/>
            </a:endParaRPr>
          </a:p>
        </p:txBody>
      </p:sp>
      <p:sp>
        <p:nvSpPr>
          <p:cNvPr id="772" name="Google Shape;772;p72"/>
          <p:cNvSpPr txBox="1">
            <a:spLocks noGrp="1"/>
          </p:cNvSpPr>
          <p:nvPr>
            <p:ph type="subTitle" idx="1"/>
          </p:nvPr>
        </p:nvSpPr>
        <p:spPr>
          <a:xfrm>
            <a:off x="2210850" y="2086275"/>
            <a:ext cx="4722300" cy="19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Community gardens can unintentionally displace their own creators.</a:t>
            </a:r>
            <a:endParaRPr lang="en-US" sz="1800" dirty="0">
              <a:latin typeface="Aptos" panose="020B0004020202020204" pitchFamily="34" charset="0"/>
            </a:endParaRPr>
          </a:p>
          <a:p>
            <a:pPr marL="342900" lvl="0" indent="-342900">
              <a:spcBef>
                <a:spcPts val="64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Greening must be integrated with housing justice.</a:t>
            </a:r>
            <a:endParaRPr lang="en-US" sz="1800" dirty="0">
              <a:latin typeface="Aptos" panose="020B0004020202020204" pitchFamily="34" charset="0"/>
            </a:endParaRPr>
          </a:p>
          <a:p>
            <a:pPr marL="342900" lvl="0" indent="-342900">
              <a:spcBef>
                <a:spcPts val="64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Future research: granular migration flows, governance structures.</a:t>
            </a:r>
            <a:endParaRPr lang="en-US" sz="18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CC4D75-B4BF-E917-3163-78DDFCCBEDEB}"/>
              </a:ext>
            </a:extLst>
          </p:cNvPr>
          <p:cNvSpPr txBox="1"/>
          <p:nvPr/>
        </p:nvSpPr>
        <p:spPr>
          <a:xfrm>
            <a:off x="843643" y="1509921"/>
            <a:ext cx="745671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Aptos" panose="020B0004020202020204" pitchFamily="34" charset="0"/>
              </a:rPr>
              <a:t>Thank you!</a:t>
            </a:r>
            <a:br>
              <a:rPr lang="en-US" sz="4400" b="1" dirty="0">
                <a:latin typeface="Aptos" panose="020B0004020202020204" pitchFamily="34" charset="0"/>
              </a:rPr>
            </a:br>
            <a:endParaRPr lang="en-US" sz="4400" b="1" dirty="0">
              <a:latin typeface="Aptos" panose="020B0004020202020204" pitchFamily="34" charset="0"/>
            </a:endParaRPr>
          </a:p>
          <a:p>
            <a:r>
              <a:rPr lang="en-US" sz="4400" b="1" dirty="0">
                <a:latin typeface="Aptos" panose="020B0004020202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33182107"/>
      </p:ext>
    </p:extLst>
  </p:cSld>
  <p:clrMapOvr>
    <a:masterClrMapping/>
  </p:clrMapOvr>
</p:sld>
</file>

<file path=ppt/theme/theme1.xml><?xml version="1.0" encoding="utf-8"?>
<a:theme xmlns:a="http://schemas.openxmlformats.org/drawingml/2006/main" name="Population, Urbanisation and Environment by Slidesgo">
  <a:themeElements>
    <a:clrScheme name="Simple Light">
      <a:dk1>
        <a:srgbClr val="3B3C41"/>
      </a:dk1>
      <a:lt1>
        <a:srgbClr val="F3F2F2"/>
      </a:lt1>
      <a:dk2>
        <a:srgbClr val="3B3C40"/>
      </a:dk2>
      <a:lt2>
        <a:srgbClr val="747171"/>
      </a:lt2>
      <a:accent1>
        <a:srgbClr val="B1B0B0"/>
      </a:accent1>
      <a:accent2>
        <a:srgbClr val="E5E5E5"/>
      </a:accent2>
      <a:accent3>
        <a:srgbClr val="48634B"/>
      </a:accent3>
      <a:accent4>
        <a:srgbClr val="618264"/>
      </a:accent4>
      <a:accent5>
        <a:srgbClr val="88B18C"/>
      </a:accent5>
      <a:accent6>
        <a:srgbClr val="B0D6B3"/>
      </a:accent6>
      <a:hlink>
        <a:srgbClr val="3B3C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530</Words>
  <Application>Microsoft Macintosh PowerPoint</Application>
  <PresentationFormat>On-screen Show (16:9)</PresentationFormat>
  <Paragraphs>173</Paragraphs>
  <Slides>15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Calibri</vt:lpstr>
      <vt:lpstr>Wingdings</vt:lpstr>
      <vt:lpstr>Bebas Neue</vt:lpstr>
      <vt:lpstr>Aptos</vt:lpstr>
      <vt:lpstr>Arial</vt:lpstr>
      <vt:lpstr>Nunito Light</vt:lpstr>
      <vt:lpstr>Urbanist SemiBold</vt:lpstr>
      <vt:lpstr>Aptos SemiBold</vt:lpstr>
      <vt:lpstr>Urbanist</vt:lpstr>
      <vt:lpstr>Inter</vt:lpstr>
      <vt:lpstr>Population, Urbanisation and Environment by Slidesgo</vt:lpstr>
      <vt:lpstr>Green Spaces and Gentrification: How Community Gardens Unintentionally Displace Their Creators</vt:lpstr>
      <vt:lpstr>Contents of the presentation</vt:lpstr>
      <vt:lpstr>Research Motivation</vt:lpstr>
      <vt:lpstr>Key Research Questions</vt:lpstr>
      <vt:lpstr>Case Selection</vt:lpstr>
      <vt:lpstr>Data Sources</vt:lpstr>
      <vt:lpstr>Methodology</vt:lpstr>
      <vt:lpstr>PowerPoint Presentation</vt:lpstr>
      <vt:lpstr>Difference-in-Differences Estimates</vt:lpstr>
      <vt:lpstr>Difference-in-Differences Estimates</vt:lpstr>
      <vt:lpstr>Visualization – DiD</vt:lpstr>
      <vt:lpstr>Interpretation of Findings</vt:lpstr>
      <vt:lpstr>Policy Implications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Eesha Narayan</cp:lastModifiedBy>
  <cp:revision>15</cp:revision>
  <dcterms:modified xsi:type="dcterms:W3CDTF">2025-08-03T03:15:43Z</dcterms:modified>
</cp:coreProperties>
</file>